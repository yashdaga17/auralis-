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909c9a5df54b15" /><Relationship Type="http://schemas.openxmlformats.org/officeDocument/2006/relationships/extended-properties" Target="/docProps/app.xml" Id="Rcbf5d2ab8a0245bd" /><Relationship Type="http://schemas.openxmlformats.org/officeDocument/2006/relationships/officeDocument" Target="/ppt/presentation.xml" Id="R8e460068abb845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fef154ecd84b7c"/>
  </p:sldMasterIdLst>
  <p:notesMasterIdLst>
    <p:notesMasterId xmlns:r="http://schemas.openxmlformats.org/officeDocument/2006/relationships" r:id="R12c1d86b9fb04a46"/>
  </p:notesMasterIdLst>
  <p:sldIdLst>
    <p:sldId xmlns:r="http://schemas.openxmlformats.org/officeDocument/2006/relationships" id="256" r:id="R6ae4a284eeaa4977"/>
    <p:sldId xmlns:r="http://schemas.openxmlformats.org/officeDocument/2006/relationships" id="257" r:id="R3322b2a5eab7469b"/>
    <p:sldId xmlns:r="http://schemas.openxmlformats.org/officeDocument/2006/relationships" id="258" r:id="Rb4cf2cc783cc4c0e"/>
    <p:sldId xmlns:r="http://schemas.openxmlformats.org/officeDocument/2006/relationships" id="259" r:id="R457ccd0262cb4071"/>
    <p:sldId xmlns:r="http://schemas.openxmlformats.org/officeDocument/2006/relationships" id="260" r:id="R9b67ea5634074606"/>
    <p:sldId xmlns:r="http://schemas.openxmlformats.org/officeDocument/2006/relationships" id="261" r:id="Ra0b7a8eb1e1544a2"/>
    <p:sldId xmlns:r="http://schemas.openxmlformats.org/officeDocument/2006/relationships" id="262" r:id="Rbabe1d8aa2f84e57"/>
    <p:sldId xmlns:r="http://schemas.openxmlformats.org/officeDocument/2006/relationships" id="263" r:id="R47dd10ce17e3422a"/>
    <p:sldId xmlns:r="http://schemas.openxmlformats.org/officeDocument/2006/relationships" id="264" r:id="Rdb7a2b645faa4423"/>
    <p:sldId xmlns:r="http://schemas.openxmlformats.org/officeDocument/2006/relationships" id="265" r:id="Ra2832645b3a74a37"/>
    <p:sldId xmlns:r="http://schemas.openxmlformats.org/officeDocument/2006/relationships" id="266" r:id="Rb6049eff6fa64bc8"/>
    <p:sldId xmlns:r="http://schemas.openxmlformats.org/officeDocument/2006/relationships" id="267" r:id="R2df19940a9db43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ccb2561dab415c" /><Relationship Type="http://schemas.openxmlformats.org/officeDocument/2006/relationships/slideMaster" Target="/ppt/slideMasters/slideMaster1.xml" Id="R58fef154ecd84b7c" /><Relationship Type="http://schemas.openxmlformats.org/officeDocument/2006/relationships/notesMaster" Target="/ppt/notesMasters/notesMaster1.xml" Id="R12c1d86b9fb04a46" /><Relationship Type="http://schemas.openxmlformats.org/officeDocument/2006/relationships/presProps" Target="/ppt/presProps.xml" Id="Rc7c5345afd4d413e" /><Relationship Type="http://schemas.openxmlformats.org/officeDocument/2006/relationships/viewProps" Target="/ppt/viewProps.xml" Id="Ra3ea4c16f5964f12" /><Relationship Type="http://schemas.openxmlformats.org/officeDocument/2006/relationships/tableStyles" Target="/ppt/tableStyles.xml" Id="Rf8ed014364e64d20" /><Relationship Type="http://schemas.openxmlformats.org/officeDocument/2006/relationships/slide" Target="/ppt/slides/slide1.xml" Id="R6ae4a284eeaa4977" /><Relationship Type="http://schemas.openxmlformats.org/officeDocument/2006/relationships/slide" Target="/ppt/slides/slide2.xml" Id="R3322b2a5eab7469b" /><Relationship Type="http://schemas.openxmlformats.org/officeDocument/2006/relationships/slide" Target="/ppt/slides/slide3.xml" Id="Rb4cf2cc783cc4c0e" /><Relationship Type="http://schemas.openxmlformats.org/officeDocument/2006/relationships/slide" Target="/ppt/slides/slide4.xml" Id="R457ccd0262cb4071" /><Relationship Type="http://schemas.openxmlformats.org/officeDocument/2006/relationships/slide" Target="/ppt/slides/slide5.xml" Id="R9b67ea5634074606" /><Relationship Type="http://schemas.openxmlformats.org/officeDocument/2006/relationships/slide" Target="/ppt/slides/slide6.xml" Id="Ra0b7a8eb1e1544a2" /><Relationship Type="http://schemas.openxmlformats.org/officeDocument/2006/relationships/slide" Target="/ppt/slides/slide7.xml" Id="Rbabe1d8aa2f84e57" /><Relationship Type="http://schemas.openxmlformats.org/officeDocument/2006/relationships/slide" Target="/ppt/slides/slide8.xml" Id="R47dd10ce17e3422a" /><Relationship Type="http://schemas.openxmlformats.org/officeDocument/2006/relationships/slide" Target="/ppt/slides/slide9.xml" Id="Rdb7a2b645faa4423" /><Relationship Type="http://schemas.openxmlformats.org/officeDocument/2006/relationships/slide" Target="/ppt/slides/slide10.xml" Id="Ra2832645b3a74a37" /><Relationship Type="http://schemas.openxmlformats.org/officeDocument/2006/relationships/slide" Target="/ppt/slides/slide11.xml" Id="Rb6049eff6fa64bc8" /><Relationship Type="http://schemas.openxmlformats.org/officeDocument/2006/relationships/slide" Target="/ppt/slides/slide12.xml" Id="R2df19940a9db43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d2c4afa75144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93574d99584113" /><Relationship Type="http://schemas.openxmlformats.org/officeDocument/2006/relationships/notesMaster" Target="/ppt/notesMasters/notesMaster1.xml" Id="R84f961a547a140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bbe1f105414675" /><Relationship Type="http://schemas.openxmlformats.org/officeDocument/2006/relationships/notesMaster" Target="/ppt/notesMasters/notesMaster1.xml" Id="R2a054e3924c248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99e3098d054289" /><Relationship Type="http://schemas.openxmlformats.org/officeDocument/2006/relationships/notesMaster" Target="/ppt/notesMasters/notesMaster1.xml" Id="R49c6d0b705f641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ca8b3d30844251" /><Relationship Type="http://schemas.openxmlformats.org/officeDocument/2006/relationships/notesMaster" Target="/ppt/notesMasters/notesMaster1.xml" Id="R065e2a9cb53249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ba96a5d8b649d1" /><Relationship Type="http://schemas.openxmlformats.org/officeDocument/2006/relationships/notesMaster" Target="/ppt/notesMasters/notesMaster1.xml" Id="R3e8656ea44044e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35ec75f6fa45f4" /><Relationship Type="http://schemas.openxmlformats.org/officeDocument/2006/relationships/notesMaster" Target="/ppt/notesMasters/notesMaster1.xml" Id="R484ddd60c4f04a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2f31837200496c" /><Relationship Type="http://schemas.openxmlformats.org/officeDocument/2006/relationships/notesMaster" Target="/ppt/notesMasters/notesMaster1.xml" Id="R3c7d7e82186247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2fc998bb944372" /><Relationship Type="http://schemas.openxmlformats.org/officeDocument/2006/relationships/notesMaster" Target="/ppt/notesMasters/notesMaster1.xml" Id="Ra111e9e3743a40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4c23e787664e29" /><Relationship Type="http://schemas.openxmlformats.org/officeDocument/2006/relationships/notesMaster" Target="/ppt/notesMasters/notesMaster1.xml" Id="Re675bba7d2964b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8d4791bb5942e6" /><Relationship Type="http://schemas.openxmlformats.org/officeDocument/2006/relationships/notesMaster" Target="/ppt/notesMasters/notesMaster1.xml" Id="R243f73644ec544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8e4445873d4083" /><Relationship Type="http://schemas.openxmlformats.org/officeDocument/2006/relationships/notesMaster" Target="/ppt/notesMasters/notesMaster1.xml" Id="Rcfc27f72e05e4e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49fa157f7844ce" /><Relationship Type="http://schemas.openxmlformats.org/officeDocument/2006/relationships/notesMaster" Target="/ppt/notesMasters/notesMaster1.xml" Id="Rb4be88cc15a144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39517d91a40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a2f6109e7a4792" /><Relationship Type="http://schemas.openxmlformats.org/officeDocument/2006/relationships/slideLayout" Target="/ppt/slideLayouts/slideLayout1.xml" Id="Ra510d3c477b942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10d3c477b942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d128458c54431" /><Relationship Type="http://schemas.openxmlformats.org/officeDocument/2006/relationships/notesSlide" Target="/ppt/notesSlides/notesSlide1.xml" Id="Rf7e91e4356e041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0d376ba8e4acb" /><Relationship Type="http://schemas.openxmlformats.org/officeDocument/2006/relationships/notesSlide" Target="/ppt/notesSlides/notesSlide2.xml" Id="R9c21d22134c848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b823f48d04725" /><Relationship Type="http://schemas.openxmlformats.org/officeDocument/2006/relationships/notesSlide" Target="/ppt/notesSlides/notesSlide3.xml" Id="R0b2beae9890c4b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511e8d34d4575" /><Relationship Type="http://schemas.openxmlformats.org/officeDocument/2006/relationships/notesSlide" Target="/ppt/notesSlides/notesSlide4.xml" Id="R04b6715f005b40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a3a2a34664529" /><Relationship Type="http://schemas.openxmlformats.org/officeDocument/2006/relationships/notesSlide" Target="/ppt/notesSlides/notesSlide5.xml" Id="R7bd67ab03c6448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1a6a2c80346c6" /><Relationship Type="http://schemas.openxmlformats.org/officeDocument/2006/relationships/notesSlide" Target="/ppt/notesSlides/notesSlide6.xml" Id="R89de6416fb3548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c2477f3d24937" /><Relationship Type="http://schemas.openxmlformats.org/officeDocument/2006/relationships/notesSlide" Target="/ppt/notesSlides/notesSlide7.xml" Id="Rd2ecc069a5cc4c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4f4597d184b38" /><Relationship Type="http://schemas.openxmlformats.org/officeDocument/2006/relationships/notesSlide" Target="/ppt/notesSlides/notesSlide8.xml" Id="R42edf55154d04b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33a1051754481" /><Relationship Type="http://schemas.openxmlformats.org/officeDocument/2006/relationships/notesSlide" Target="/ppt/notesSlides/notesSlide9.xml" Id="R49c7f1f12b8242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dfe1f535640d1" /><Relationship Type="http://schemas.openxmlformats.org/officeDocument/2006/relationships/notesSlide" Target="/ppt/notesSlides/notesSlide10.xml" Id="Rad3287d9c34444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ede0bc0b14858" /><Relationship Type="http://schemas.openxmlformats.org/officeDocument/2006/relationships/notesSlide" Target="/ppt/notesSlides/notesSlide11.xml" Id="R58ea117147f84d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221d954d542c7" /><Relationship Type="http://schemas.openxmlformats.org/officeDocument/2006/relationships/notesSlide" Target="/ppt/notesSlides/notesSlide12.xml" Id="Rb59a457c086a4b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F62A7D-FE5D-4A8A-AD42-6B6E44C5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295DF-4149-4110-89FD-08951C6C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7FD8A-8157-46E7-A044-A9AF954E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81033-3D8B-43A2-AD36-294788CD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1DC16-6AB0-4CDA-A467-513BA990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BDF7E-8D67-4EED-B3DE-3BCDC05F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5DDFE-F1B4-4BE5-9106-64382C97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313D0-8972-4C3F-9486-5A2BE117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2FD4F-BFBE-473B-AF8E-60F8B14E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346DC-77F3-4ABF-9F08-96413F51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6C567-B589-471B-83E8-728B25DC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C7971-7711-4089-9138-A96A1F5F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7352A-7D90-42F2-8266-270ED0D1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651B0-B275-47F6-8861-71025235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87821-76E4-408B-8877-61523693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2BE18-EFDB-4D60-AAD8-5D67C9E2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F6FC1-7CE8-41C9-AD59-1A2C887A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7BD40-12CA-4C1B-BD1E-5333402D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518697-D2BD-4D79-9970-A3E9E4D2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B07D3-3063-42DA-A59A-C1852128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36502-F05E-4550-8B81-DD0E5853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432899-40AD-446A-8923-BD071E98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8DBF6F-B70D-4B2F-956B-D04D4312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F0F983-A053-48AF-92FF-24ADA0CD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46304-FF1A-4316-B524-DB4C95F2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B62C26-4D40-4CBE-A3D5-7DF82E02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A89E8D-558E-4088-9981-63843CFE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1B1715-2F5D-470C-8585-AA3E2BED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F369AA-CC65-4947-9A29-E7AB82A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98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rPr>
              <a:t>BRANDFORGE / CREATOR DIGITAL TWIN / 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FC870D-3746-4B8F-8C5F-9F6B5311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295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2"/>
          </a:solidFill>
          <a:ln xmlns:a="http://schemas.openxmlformats.org/drawingml/2006/main" w="19050">
            <a:solidFill>
              <a:srgbClr val="00EE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574C4A-E2FD-402C-BB32-ECDE5FB9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33" y="2410883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048244-9358-4E53-8B7E-F511B060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67" y="2410883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C04E9E-B4AB-4603-B8E2-CB1DB789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410883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D812E5-7D76-41FE-97C5-10B355EE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33" y="2410883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636C60-736C-403C-A88C-0EEC63CB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67" y="2410883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F29B1C-C899-408B-BDCD-995D9D79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33" y="2554817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695C9B-3242-4E28-A464-585C2F25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33" y="2698750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E7E4C8-98E5-478B-A916-92F0EB95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33" y="2842683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82A4EA-9511-4D03-9C9F-F80CFB5E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33" y="2986617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15E20F-BD35-4ABF-9772-793C5C2F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67" y="2986617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45D440-78DF-4D80-BD7E-28D5541D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986617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1A2534-E3C3-49C8-9304-690ABEBF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33" y="2986617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FC10F2-E458-4585-9293-AE099D74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33" y="2698750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5A2A45-1387-47D8-AB17-9C752BC7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67" y="2698750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3C9A82-595A-4F65-A576-1F089C41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698750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BC42D1-30AD-4100-8372-5552E13C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33" y="2698750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0D705C-A8BC-4CD2-B8C4-C7A49957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2410883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520C7B-1C8B-458A-863E-9E228475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133" y="2410883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84B1A3-A1F7-4156-9D5E-1BB8D042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067" y="2410883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204D48-AFCC-4A76-AC05-3C9A6076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2554817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34B786-13AE-4C34-989B-F992BED9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2698750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BB251C1-9918-4533-94DF-E431E2B2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133" y="2698750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866992-3550-4214-9927-0820A084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2842683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4ACA18-C788-4383-B1B9-5A167166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2986617"/>
            <a:ext cx="123783" cy="123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E122A6-0264-4B4D-A3DD-47FDF782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95500"/>
            <a:ext cx="590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D54D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D54D"/>
                </a:solidFill>
                <a:latin typeface="Aptos Display"/>
                <a:ea typeface="Aptos Display"/>
                <a:cs typeface="Aptos Display"/>
              </a:rPr>
              <a:t>BRANDFORGE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940205-FFF5-49CF-BCD1-CC69BA97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742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An autonomous AI social media engine — the creator's digital twin.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1A8E4F3-E2F3-4BF9-998A-BB138512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385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The creator sleeps. BrandForge works.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F356C06-ADEC-4ADE-B6CF-88350042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76300"/>
            <a:ext cx="28575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577680B-E2F7-44FB-849B-C0594BB4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990600"/>
            <a:ext cx="255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[AUTONOMOUS TEAM]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5AA4AD-73DD-43E8-9CC7-146D4C0E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D54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D54D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F687D6A-42E6-4705-9778-DD579448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5A0C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5A0C8"/>
                </a:solidFill>
                <a:latin typeface="Aptos Mono"/>
                <a:ea typeface="Aptos Mono"/>
                <a:cs typeface="Aptos Mono"/>
              </a:rPr>
              <a:t>persistent memory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E80D59-827A-4A92-B827-737FDF2B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F2A1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5F2A1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9105D1-28B9-4F4A-A974-07E20055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432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5A0C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5A0C8"/>
                </a:solidFill>
                <a:latin typeface="Aptos Mono"/>
                <a:ea typeface="Aptos Mono"/>
                <a:cs typeface="Aptos Mono"/>
              </a:rPr>
              <a:t>specialized agents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26BAF4-306C-4D88-8239-4A53EFC8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EED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0EED0"/>
                </a:solidFill>
                <a:latin typeface="Aptos Display"/>
                <a:ea typeface="Aptos Display"/>
                <a:cs typeface="Aptos Display"/>
              </a:rPr>
              <a:t>24/7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A0EA59-16B4-400C-ACF5-A8BB42DB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766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5A0C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5A0C8"/>
                </a:solidFill>
                <a:latin typeface="Aptos Mono"/>
                <a:ea typeface="Aptos Mono"/>
                <a:cs typeface="Aptos Mono"/>
              </a:rPr>
              <a:t>phone-first source of truth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6BCAF52-A7A1-4EFD-B29A-01B35E23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rPr>
              <a:t>REAL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8A4E47-B084-4A51-A9BE-64571B6E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01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5A0C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5A0C8"/>
                </a:solidFill>
                <a:latin typeface="Aptos Mono"/>
                <a:ea typeface="Aptos Mono"/>
                <a:cs typeface="Aptos Mono"/>
              </a:rPr>
              <a:t>demo-ready APK</a:t>
            </a:r>
          </a:p>
        </p:txBody>
      </p:sp>
    </p:spTree>
    <p:extLst>
      <p:ext uri="{BB962C8B-B14F-4D97-AF65-F5344CB8AC3E}">
        <p14:creationId xmlns:p14="http://schemas.microsoft.com/office/powerpoint/2010/main" val="14872013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64C6FA-02FC-4EEE-8D20-636A1D8A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35749-D075-4494-9275-2BFA8556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E9E77-D887-4210-BE23-9B92C609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5F70C-9769-4F7B-B7B6-6E9528E4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A14D1-BF3E-4687-8D1D-EC27D184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6A077-03CE-4082-B415-C2464161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55377-B978-486D-857A-623A22D8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404A1-E741-483B-9432-A1EFE48F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1A3B5-676C-4022-9CAD-D71FCFFD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F6D09-0789-4EF3-922A-BA6D9E5A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68B3F-B712-493E-ADEE-5177AE05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C564A-36D2-4423-A985-722E9452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29508-E8AE-4A48-8966-2B949A1D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70936-302D-437E-B52B-F706A953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22E543-D4D8-455C-8565-6A11C022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36D896-D960-4194-BCE1-E8D60752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7C70E-96E4-4D29-ACB4-84E7A0E6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3EB6A-9CB5-4D10-B268-EC293F88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FBD39-0BEB-4EEF-BB39-B235140E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A93DCE-3708-43B2-8EDD-3F82A1B5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D6700B-6C78-4D51-BBF2-A20F21D4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9EE0A1-D661-46E0-A6DA-1E4BDD32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ACA9A-104C-4B8A-8C9A-D86EB515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4E966D-EFB9-4E71-98E4-7C3A6581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2DBF6C-8ADB-4CBC-A641-9C775379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7775FA-BF37-41BA-A80F-E18FE2AD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3C8F3A-4A41-41E9-8A24-6CB0988D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1722C2-8792-460E-A493-08ECC343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7871D9-399F-4731-B77D-72D6B81B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98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rPr>
              <a:t>BRANDFORGE / CREATOR DIGITAL TWIN / 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CBE578-CFFF-4235-8DDC-1B48A40A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PROBLEM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439DFE-A1FD-4494-BDCB-F64608BC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rPr>
              <a:t>Creators do not need more blank text boxes; they need context that works while they are busy.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C0D4EF-CCD4-448D-A184-EFA8DAD2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5A0C8"/>
                </a:solidFill>
                <a:latin typeface="Aptos"/>
                <a:ea typeface="Aptos"/>
                <a:cs typeface="Aptos"/>
              </a:rPr>
              <a:t>Most mobile-first creators have fragmented tools: trend tabs, notes, DMs, analytics, captions, and competitor research all live apart.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201F1A-4045-4B17-B948-78A85921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FF4D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C929AD-FE9C-4E5F-8C52-20769A52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464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[TODAY'S CREATOR STACK]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CFD067-AB9C-4E41-8C73-7917C527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4D5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B81D4A-4B4B-4DA3-BC53-0C943957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396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4D5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4D5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6D479D-CE05-4B7D-A87F-1CBFE410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39624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Trend research is manual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EEA2C2-08D5-4E6D-ACE2-48574BDE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4D5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D52B6B-E287-431C-924C-B3206E42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396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4D5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4D5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56AB4B-095A-4AF7-9DB6-77D0937A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9624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Brand voice is remembered by the human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BC6A03-E6BB-424B-AE78-F3B8CCD3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4D5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E685CB-CBA4-4FB3-8EDD-6E15B70A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396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4D5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4D5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D25080-11C5-4FA9-8CD5-A5C70CEB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39624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Content tools start from a blank prompt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E02DCC-725C-4A60-8D7C-E05E19B8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4D5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317548-8191-46F6-9D5B-3FAF8297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396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4D5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4D5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270BC4-C20F-48FC-B2E8-3FE383CE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39624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Comments, leads, and PR risk are disconnected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57D80E-D1D0-4C3C-9C79-A727AA92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4D5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038F17-DC3F-4CD7-BE6F-6B371C01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396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4D5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4D5A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64B980-5576-43A3-9322-C13E71A6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76800"/>
            <a:ext cx="39624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Competitor analysis rarely feeds content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A6EF35-9AAE-4FCB-80C8-8A2DAC8F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572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35F2A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72CBF3-3D5A-4EF6-80A1-5C55A132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0980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[WHAT THEY ACTUALLY NEED]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B5DF6B-CE22-4071-ABA5-57A476B4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7175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35F2A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5B1D8B-FCF9-42A2-9306-F837B165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86050"/>
            <a:ext cx="350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BF1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3F45A7-B988-4018-B6B1-7AA89E1B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71800"/>
            <a:ext cx="35052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A memory-backed Digital Twin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F6B5C8-2FA1-4738-ACFE-B76A6A9A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4800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35F2A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17DBCF4-8BD2-4151-8C04-290C15D6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350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BF2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85D656-F370-455E-82A0-4EC60CBB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48050"/>
            <a:ext cx="35052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Agents that monitor, score, draft, and explain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5BA3F1-68F0-4ADC-949F-1522A75C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35F2A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74EAAAC-34B9-4825-A08A-B6097A84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8550"/>
            <a:ext cx="350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BF3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4B526A-7C6C-4F4F-A9AA-AFC3B19C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24300"/>
            <a:ext cx="35052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Trend opportunities matched to Brand DNA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E3A824-8268-4FF6-B1DC-F5B31DB8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0050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35F2A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9B6665-252D-44B7-A55B-DE3B567B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14800"/>
            <a:ext cx="350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BF4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A8052A-E8D3-4585-89C9-FCA4D605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00550"/>
            <a:ext cx="35052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Lead / risk / competitor signals inside content decisions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80C5643-6E19-4A48-909C-FAB07887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7675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35F2A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E02DA0F-3D82-402E-B8AC-7A42B09A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91050"/>
            <a:ext cx="350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BF5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A6E3981-7DF4-4BE9-A2B1-132A888B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76800"/>
            <a:ext cx="35052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A phone-first command center</a:t>
            </a:r>
          </a:p>
        </p:txBody>
      </p:sp>
    </p:spTree>
    <p:extLst>
      <p:ext uri="{BB962C8B-B14F-4D97-AF65-F5344CB8AC3E}">
        <p14:creationId xmlns:p14="http://schemas.microsoft.com/office/powerpoint/2010/main" val="19875162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688371-043E-4E1A-883D-8A99852C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E2483-41A7-468C-B3B2-62B71740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B3A3E-2B61-4A8D-BC01-571E6CD7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BD051-884A-4DFF-B9D3-FE4E6319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DDEE5-A58A-48D9-8F99-6E45C549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7AEED-C2AF-42C1-AE8D-35615591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67154-70B5-48FB-9133-E71D1F9D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05114-99BE-4214-B661-D09930B1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CE152-F80B-4237-B3F6-34B0B5FC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61606-85B0-43A7-A277-C68C0869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2C04D-3B10-4211-AB38-566C035E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9A849-C8A0-4F05-A3F5-78579128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4526D-EEC1-4D44-8F31-3B4C1CE6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B0468-86B5-4C2C-8EB5-FF2C6560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EFC12-2C1C-4FED-B979-AFF42EAA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ABCD9A-9027-41CF-A563-D71589B0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988B9-CB0E-4D13-8D75-74003EDF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C77ED8-BB1B-41DF-926A-AC36962A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9CA51B-3AD4-4383-B9D8-8214DE9A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F2A9AF-D42C-4CB8-AA10-9DE9EBDB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4353F-1C40-4AC8-835A-994109F7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DE172F-E4BA-43CC-AC69-55A66DAE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E5049D-DA7C-4530-9FA3-C7DC13A2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83D99-A102-49D0-B9BA-438DAE3B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6753D4-BE04-4A89-AC87-7CB69A87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8F01F7-E334-4739-AD62-F418CADC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D38277-F9EF-4294-9B21-CFB43D73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26F284-1384-45E3-8141-F5E77625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14739D-0795-44E9-876B-1344C28F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98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rPr>
              <a:t>BRANDFORGE / CREATOR DIGITAL TWIN / 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1399F5-1299-4161-870F-D9C62548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SOLUTION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97D18B-994A-481E-9A9F-D16B3940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rPr>
              <a:t>BrandForge is a closed-loop creator operating system, not a one-shot content generator.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E97C82-F0F4-498F-BB9D-A7712E4F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5A0C8"/>
                </a:solidFill>
                <a:latin typeface="Aptos"/>
                <a:ea typeface="Aptos"/>
                <a:cs typeface="Aptos"/>
              </a:rPr>
              <a:t>Every action can read Brand DNA, retrieve memory, persist outputs, and feed the next agent workflow.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B86C0F-B128-4BC8-AB1F-35D48758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477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D97B07-C821-4E66-8615-99265820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1017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[AUTONOMOUS CREATOR LOOP]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114C4E-FF6F-413D-B0A3-B593CE6E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160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00EE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D96A19-25D8-4B03-A627-E1ADB9C0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SENSE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525D61-3650-406A-A52B-932AC6D1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1371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Firecrawl, YouTube, profile URLs, comments, competitors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3BB0B9-19D8-4F53-8140-214F64BA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52750"/>
            <a:ext cx="160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D5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229D36-9682-4BBF-A295-9A4AAB51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670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REMEMBER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4A9FA8-CE23-496C-93FF-47CE5FA0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52800"/>
            <a:ext cx="1371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Room + Qdrant creator memory and Brand DNA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53D364-A8BA-4038-BC45-169304A4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160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35F2A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48A6C6-BC20-4C7B-9484-EB8ED6CC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670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REASON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6018E8-EEBC-49CF-803E-9985E293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1371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Gemini + OpenRouter model routing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5EB11D-35AA-48BB-A3CC-3D40B256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52750"/>
            <a:ext cx="160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5F7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D61F2E-39EF-47C6-9250-71C9E06D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670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5F7FF"/>
                </a:solidFill>
                <a:latin typeface="Aptos Mono"/>
                <a:ea typeface="Aptos Mono"/>
                <a:cs typeface="Aptos Mono"/>
              </a:rPr>
              <a:t>ACT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5A0B3A-8EEC-4635-B318-5E30900A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1371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Drafts, media, PR audit, leads, strategy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DEB3EF-B649-472A-A63F-693B20F1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52750"/>
            <a:ext cx="160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00EE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DF5464-7FC2-484C-BB12-1C3DAEBD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LEARN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A4314F-22CC-4278-BADE-A7CDC8C5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52800"/>
            <a:ext cx="1371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Persisted results become future context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84EB52-B1BF-4728-B2EF-96F7AF4B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1A36CA-DACF-49CE-A594-EB381655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18FCD6-4208-4A40-B997-0651F677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671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272D24-384D-4F11-9596-F3389E0D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29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FFAE62-A24D-4BAC-BA48-7E20D935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D0AED5-7605-4376-9D9F-DB23DFF6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29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325D060-EB31-40FC-B905-ABD3691C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671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346399-ECA7-4413-9625-77E47C3C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29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F85D87B-C621-41CB-9883-2045957B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00550"/>
            <a:ext cx="885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D5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D54D"/>
                </a:solidFill>
                <a:latin typeface="Aptos"/>
                <a:ea typeface="Aptos"/>
                <a:cs typeface="Aptos"/>
              </a:rPr>
              <a:t>Closed loop = trend-jacking, content, leads, PR risk, competitor gaps, and chat all improve the same creator model.</a:t>
            </a:r>
          </a:p>
        </p:txBody>
      </p:sp>
    </p:spTree>
    <p:extLst>
      <p:ext uri="{BB962C8B-B14F-4D97-AF65-F5344CB8AC3E}">
        <p14:creationId xmlns:p14="http://schemas.microsoft.com/office/powerpoint/2010/main" val="1029458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55E0AB-9E06-4493-A105-1B708D50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1FAF1-0969-416E-8B99-66A27632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1107A-07A9-404D-BBEF-146B654A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2C0C5-2763-4E16-A368-6FAFFB43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CAD27-2FF9-4929-A76B-248BA59A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67685-4372-4BA5-9B88-223D6B0E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8900A-9BCA-43C5-8155-E3E3031D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B8394-1795-47AE-9693-4B49A349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4BA89-BB29-4002-B71D-4EC88D39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D8657-3E1F-40AB-A417-7BCCD40A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93C87-ED65-4D4A-8816-86696774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305FB-351A-43FE-B246-3913F7AB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B299D-82B3-437D-A788-93F5494C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72D83-32E4-4252-B875-720362F1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5895F-4099-4005-A90D-AA3FC99D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1458D-A541-491B-9DD9-49540FA2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C60C8-852B-43AE-B79B-EBCBEAC8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1BEDD-897F-452E-9DFD-E01168B0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86E55-30B4-424A-941A-A439C152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F6583B-1BA7-495A-81E1-1010E6B9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616A2-4720-4BC6-9B21-66E417FB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ACE3BD-458E-4021-8762-794FE00F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45756C-D4DE-4C2F-B0AD-69D51486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9EDCF4-2B0F-4A03-8253-F898EF2C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0D41BB-9F5C-4B97-9457-7631F6B7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C50FF8-5351-435C-8D15-5E0F0B13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BD5144-77E4-4AAC-AA61-C29CAEE5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41F256-838B-423C-924F-F2D75905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8A63AE-EBD6-4F43-BC09-1A719F32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98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rPr>
              <a:t>BRANDFORGE / CREATOR DIGITAL TWIN / 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8FA51D-2A74-4045-8D41-02068F53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DIGITAL TWIN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CE27A8-2895-4D26-81BF-EB72B24F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rPr>
              <a:t>Creator Memory makes AI responses specific, cumulative, and accountable.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D5ED37-C37A-4941-A8F1-E4FB6371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5A0C8"/>
                </a:solidFill>
                <a:latin typeface="Aptos"/>
                <a:ea typeface="Aptos"/>
                <a:cs typeface="Aptos"/>
              </a:rPr>
              <a:t>BrandForge stores creator identity, past content, trends, leads, competitors, audience insights, and performance history.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A4E834-839D-44FE-A0F1-E5E052F9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096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29EAF7-C84F-44CC-BD07-1B635721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979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[MEMORY RETRIEVAL PATH]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18E8D6-0F83-4DF8-86F3-849D2957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5F7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49EB7E-D224-44E6-A637-9D07056A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5F7FF"/>
                </a:solidFill>
                <a:latin typeface="Aptos Mono"/>
                <a:ea typeface="Aptos Mono"/>
                <a:cs typeface="Aptos Mono"/>
              </a:rPr>
              <a:t>USER QUERY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56CBD0-E62B-40BC-BBDC-98020E05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What should I post today?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6942A7-3A35-4FC0-8A78-446B2F53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00EED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207687-D6EC-4125-8F62-76C725B9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956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RETRIEVE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B4A92C-76D6-4AB0-ADE7-4F99E047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81350"/>
            <a:ext cx="1581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Use case asks CreatorMemoryRepository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379386-74A4-446F-8D11-83690EE2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35F2A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605866-36B0-43BB-9088-00490EC7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956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QDRANT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1B111B-E6ED-4796-96FF-84AF97C7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81350"/>
            <a:ext cx="1581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Vector search for relevant shards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F1F64F-17F9-4203-B0D9-265EF765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152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D54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5BA2CE-1979-4AA2-9B65-46340254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956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ROOM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DE99FD-827E-4D22-BE73-DB2C2330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81350"/>
            <a:ext cx="1295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Local fallback and source of truth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4AAF73-1B62-4D57-A7F9-B13E930C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133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5F7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A5F8FC-B5C7-475C-A529-EA3F0399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9560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5F7FF"/>
                </a:solidFill>
                <a:latin typeface="Aptos Mono"/>
                <a:ea typeface="Aptos Mono"/>
                <a:cs typeface="Aptos Mono"/>
              </a:rPr>
              <a:t>ANSWER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E411D3-F739-4EF4-8A2B-79410EA7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81350"/>
            <a:ext cx="1104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Cited memories + rationale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E15726-FBD5-44DA-AD9B-21CD4625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909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85D815-F56B-4B41-8C0E-8CEB5D70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52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3346C1-1BCE-48EB-886F-F49BB55F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909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D6B492-7CB6-4EF5-8601-567A67AE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C63FB9-2013-4DA7-8FA2-B121D13F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D96509-0F71-4E89-9322-7B9E953D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52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95DB68-215E-49FD-89CB-78915D06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9B6C89F-E804-48A5-9FE8-2D68375B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52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5975F5E-EF5E-4F35-BF0D-E96CB584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D5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D54D"/>
                </a:solidFill>
                <a:latin typeface="Aptos"/>
                <a:ea typeface="Aptos"/>
                <a:cs typeface="Aptos"/>
              </a:rPr>
              <a:t>Why it matters: the AI stops sounding generic because it remembers vocabulary, goals, banned claims, audience context, and what worked before.</a:t>
            </a:r>
          </a:p>
        </p:txBody>
      </p:sp>
    </p:spTree>
    <p:extLst>
      <p:ext uri="{BB962C8B-B14F-4D97-AF65-F5344CB8AC3E}">
        <p14:creationId xmlns:p14="http://schemas.microsoft.com/office/powerpoint/2010/main" val="9129488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0D522C-7228-4F67-8CC9-1FBEFFDC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07E7C-4969-4327-A4B4-B1256735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9655E-43AD-4F83-A077-C0993D0D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73154-4929-4D88-8D04-54135E34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597CC-C510-45DC-99AB-2EB828C4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6FD9A-341D-4ADE-87D5-1D1D6CE2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1DB01-79F3-43EA-A7AC-EDFF3961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5B022-7B95-436B-9971-CF3FB648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042CF-CD0F-4463-9B2B-CAE6C1F6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F7C90-417D-4C2B-BC3C-4B0E599A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E31E4-9724-4D77-940A-EC236615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0187C-4798-4D91-B0A8-426A8537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A6BD6-CAC5-4B16-A98A-B660975C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44D48-19D2-46C3-A61B-2F31E231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D3ACD3-CA12-461E-A9CB-0334E977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9A035-337C-4B76-BE33-B9A27F50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6302A4-7236-447A-8DD3-556339F8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731B32-65F5-4B6E-85B5-E57351EB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666B2A-2D4F-4C05-93DF-F9E2839A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595FF0-1203-4CB1-B889-C4FFB852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9956AC-2C4A-4928-917E-6772804D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C57433-D0F0-4AEA-B9F5-C41CD9D2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4F39C1-90F1-4680-98B1-7A4A9523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EF1E9E-2F31-422B-95E0-C34A9AF2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350910-8701-4364-9889-55DA2A8A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8C1BC-2E3E-42FF-B53F-75E3A4B1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EEE550-BE6C-49BE-A390-8BC21C73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CDB09F-3914-4D9F-B99B-4F72642E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7D1A1A-6CBA-4752-B10F-577FF79E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98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rPr>
              <a:t>BRANDFORGE / CREATOR DIGITAL TWIN / 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24617A-71AD-4360-8366-FE406BC3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AGENTS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3FF95A-9B1F-4E97-8A7F-111FE5C7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rPr>
              <a:t>BrandForge behaves like a creator team because work is split across specialized agents.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0C9F9E-4CB0-4857-B54E-7C555A17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5A0C8"/>
                </a:solidFill>
                <a:latin typeface="Aptos"/>
                <a:ea typeface="Aptos"/>
                <a:cs typeface="Aptos"/>
              </a:rPr>
              <a:t>The Supervisor coordinates; specialized agents gather evidence, generate work, and persist results.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2FBA6A-EA02-4BD6-9056-BDE658B4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287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849481-FF70-43B6-B278-81CC6AC8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998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[MULTI-AGENT OPERATING MODEL]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16FC67-72BE-41A7-9F67-074CF221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D5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BDA296-3189-45AC-8D1D-1D98D330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9555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SUPERVISOR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1AEFF8-300B-49FC-B08F-964C0E40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8130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orchestrates workflows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13704F-AC64-4DC8-B6AC-36D80B71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00EED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E4BB35-4DBD-405C-B979-DD472E15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TREND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9AE3FA-ADCD-449F-A743-7F04BDB0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discovers opportunities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26700E-50E0-4E8F-827D-2F5C4AA8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9095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35F2A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D177A1-BE58-4E34-BC49-29E18D72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052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BRAND DNA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E4F4CB-AFD3-4459-AF37-175999BF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910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protects voice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2ECF05-D723-4C74-BEA2-2405B2A9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577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5F7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B81862-6584-4F95-884E-4848DFC8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720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5F7FF"/>
                </a:solidFill>
                <a:latin typeface="Aptos Mono"/>
                <a:ea typeface="Aptos Mono"/>
                <a:cs typeface="Aptos Mono"/>
              </a:rPr>
              <a:t>CONTENT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B2D5FF-9429-43B3-8C28-006DAADA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577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generates drafts/media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05E513-8838-4465-ADC2-E5152246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00EE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A5EB60-D605-41E0-AB06-A4401D34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052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VIRALITY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F607A7-676A-4285-BC0E-96675784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910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scores hooks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D03FC3-973D-4B77-807C-11DACA63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35F2A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44222D-8CFE-44C1-86BB-E14AA47F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908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MEMORY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E71C4F-3CAB-4ADB-966E-E91FF6FF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765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retrieves context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C637C9-0B36-4700-8D82-35333714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D54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FEE681-3F4C-4264-BE3D-CAEC157F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LEADS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FC3967-47F3-4FA5-80D9-BC5EE4DD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01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classifies engagement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A91A5D-5514-49FE-B413-0497A3D3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005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D54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96D2303-DE7B-43E0-B91A-36103AC9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243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COMPETITOR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8F574B-C2D8-4068-8038-792CADAF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101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finds gaps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336795-CE2D-44C0-A36F-270A179D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5A0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5A0C8"/>
                </a:solidFill>
                <a:latin typeface="Aptos"/>
                <a:ea typeface="Aptos"/>
                <a:cs typeface="Aptos"/>
              </a:rPr>
              <a:t>Implemented agent surface: Trend, Brand DNA, Content, Memory, Lead Detection, Competitor Intelligence, PR Risk, Twin Chat, War Room battle, Voice Commands.</a:t>
            </a:r>
          </a:p>
        </p:txBody>
      </p:sp>
    </p:spTree>
    <p:extLst>
      <p:ext uri="{BB962C8B-B14F-4D97-AF65-F5344CB8AC3E}">
        <p14:creationId xmlns:p14="http://schemas.microsoft.com/office/powerpoint/2010/main" val="16990181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FE63D5-3599-40BF-A0DB-3CF6F271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45E5F-BE7C-440D-A743-A43D41F5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D8EB6-18F0-4D86-9391-CE1D6EAD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7861C-AF43-4CC3-BAD1-6A64D6C2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0B334-05E9-4E71-97C7-B51B7B24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B51B5-F791-462F-A6CB-DEDB803B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2275C-43DF-4502-8218-8F534442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CB13D-5627-4BD6-86E1-2C55353D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C6943-02B8-4A1F-8E85-0E931F4D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AB01B-8721-456A-85A2-994BFD53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D6367-E810-41B7-A29B-0ABE598C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67F2B-0F92-4A86-81E3-96946CC1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D6288-4A57-4992-AD30-3F0D528E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4B1D3-D1B3-40B5-84B9-D8AAE1AF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CBE31-AF24-494B-9AFF-7C0282C0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3748E-7F84-44BB-B8A7-08705A48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56815-A3AE-4A24-99DE-61FB1EB7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AF66D-9FF9-4106-B316-24A72EF4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567E2-49BF-43C5-ADA7-5C7C01B8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D2E2E-750D-4673-AFF7-56F4F1AD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49409A-88C6-4675-98D3-7F2F444F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5115C7-E692-4DDA-B958-21C55EF6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7C096-9BFA-4389-A990-AC2CA8E7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9CEA0F-57BA-4E31-B1D0-8D431734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A36AF8-5A4E-4B74-B320-A62D9409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4D4AB9-7E39-4D40-925C-C461C86C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1B5AFB-E21F-4929-89B1-E67BF61F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5B3ADF-C5B4-4365-ABFF-C78137A9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7B86BD-7734-4B06-8754-9F90C8AF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98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rPr>
              <a:t>BRANDFORGE / CREATOR DIGITAL TWIN / 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73482C-3D58-4E75-8F47-DF88F907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TREND-JACKING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22488C-96DF-4ABC-A88F-1B42C162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rPr>
              <a:t>Trend opportunities are ranked by creator fit, not generic popularity.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4C49F6-4FB1-4D32-AA2B-ADCB13D3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5A0C8"/>
                </a:solidFill>
                <a:latin typeface="Aptos"/>
                <a:ea typeface="Aptos"/>
                <a:cs typeface="Aptos"/>
              </a:rPr>
              <a:t>The same trend can be high-value for one creator and irrelevant for another.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F2E5BD-2CDB-456D-8DB3-66A39565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9ED8B0-C5EC-4E92-AC06-73696427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464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[SIGNAL PIPELINE]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DB560A-8B30-43D8-9528-F7449986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00EE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DB4F42-859D-43E4-BA39-2073690E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FIRECRAWL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381394-961D-410C-ACB8-6DEAAAB0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1485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search + exact scrape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9D58DC-31E0-4096-A2D9-8F9F3FC9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289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4D5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C06AE1-640E-4E3B-8618-2DBDAD75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432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4D5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4D5A"/>
                </a:solidFill>
                <a:latin typeface="Aptos Mono"/>
                <a:ea typeface="Aptos Mono"/>
                <a:cs typeface="Aptos Mono"/>
              </a:rPr>
              <a:t>YOUTUBE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972051-F21E-4F70-A624-CA164FD4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28950"/>
            <a:ext cx="1485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live video signals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49EBF9-4938-4DB1-A196-BE1920C9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05125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45A0BE-8873-4C10-A2D1-CC16E8AE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67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931D6F-1FFE-439D-9D4C-983B577D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D5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9CC6F1-A461-4625-BAB8-771C86D5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290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NORMALIZE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8D888E-7932-4029-BAA3-A689AC0B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1480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source URL, platform, title, summary, freshness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6B5491-9DBD-4112-B346-D9D076D7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381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7D27A8-DFDB-4D30-B74E-8E9AA9A2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09800"/>
            <a:ext cx="407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[OPPORTUNITY SCORE]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20AA66-014A-4C09-8DA6-BFF157A1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051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rPr>
              <a:t>Brand fit from DNA + memory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29D1CD-6935-489D-A38B-5C3AC313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2762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8B80E3-D013-414C-951F-E3553FE5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226504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060C85-C621-450C-99E6-FFA6F328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765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82%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8E15D6-B346-4415-BB6F-A6C7CB43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rPr>
              <a:t>Freshness / trend window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D31541-24F3-4FF2-A66F-7130CE80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2762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C84B7FB-497B-4F00-9A8A-9CDA13F8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204406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7CCF30-1AAC-42EA-A252-CD394257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433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74%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50112D-59B7-44A8-83D7-8689A8BB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386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rPr>
              <a:t>Velocity / source signal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C294BA-B897-47E4-BEB5-6C26650B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86250"/>
            <a:ext cx="2762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2FC7A0-38AF-4D73-87E9-8573CDAD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86250"/>
            <a:ext cx="187833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46D4B9A-CABE-4AA6-AD41-06422A9A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100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68%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15F521-C3F3-4831-AC82-78646AA5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F"/>
                </a:solidFill>
                <a:latin typeface="Aptos"/>
                <a:ea typeface="Aptos"/>
                <a:cs typeface="Aptos"/>
              </a:rPr>
              <a:t>Output: source URL, platform, velocity, freshness, brand fit, opportunity score, recommended format, rationale.</a:t>
            </a:r>
          </a:p>
        </p:txBody>
      </p:sp>
    </p:spTree>
    <p:extLst>
      <p:ext uri="{BB962C8B-B14F-4D97-AF65-F5344CB8AC3E}">
        <p14:creationId xmlns:p14="http://schemas.microsoft.com/office/powerpoint/2010/main" val="5756408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FA3E0F-FDDB-4394-87DE-A6FCEA8D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1EBBA-98BA-40D8-84B2-62BBAB9D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18A7A-CFED-49D6-AB66-CD86C455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DE81F-724C-44F4-9CD1-4CD56302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8FA1D-6568-4D52-A428-7B7874B5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59D3C-1CEF-44F3-9327-BA4EC65B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E2D4D-74CD-469E-B73D-9FA4ECCC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E9036-7049-470D-9F5D-A2C99A2A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51E54-B2A4-42A4-A8D5-1019708A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256BF-7C8F-444E-87EF-8734A54E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5761F-D1C7-4B64-B0C0-3897A9B0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195F8-1B85-4538-886A-F9A157E5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832D3-06A9-4386-80F5-F231717F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92C04-EDCA-40F5-BDC9-5B9FD546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86892-73E6-43A9-8CAD-DBEC77C5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EDA7B-E478-47CF-8B42-FF7CA86A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45003-13A2-430E-BE64-96E9AB19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58433-F6C8-4372-81B4-93C1E835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38E9AD-139C-4B69-B95C-13CB0D93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5CB6F-E0AB-454D-B923-0357DA11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72CD1-AF7D-48F8-BF32-F2E9F01E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5C40B1-C6CF-4734-9174-16685761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C1F27-174F-4438-99FE-54130389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8AD5A7-AF55-4D70-8C53-1602AB87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017D24-00E1-4272-870B-A30274AB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5B4143-D92A-4267-9293-0819FD93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40D10F-5CBE-4F81-A687-1CA9CB85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319625-7EF9-44F8-8A81-55004AF0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BAC235-CB25-4B44-8A37-8724F929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98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rPr>
              <a:t>BRANDFORGE / CREATOR DIGITAL TWIN / 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AF329C-7EDB-462F-BFA7-70B61C30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CONTENT + MEDIA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438522-512C-462B-A559-B2FD7A52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rPr>
              <a:t>Content Studio turns scored opportunities into creator-specific output and rendered media artifacts.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62084E-3FB7-4A0E-BB82-7784A893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5A0C8"/>
                </a:solidFill>
                <a:latin typeface="Aptos"/>
                <a:ea typeface="Aptos"/>
                <a:cs typeface="Aptos"/>
              </a:rPr>
              <a:t>Drafts and media are stored locally so the phone remains the source of truth.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0E0127-6725-4205-9B33-6CA9E60F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102870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6C2DF0-BCF6-4CE8-801D-A27E0DBD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998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[CONTENT GENERATION WORKFLOW]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665FB7-639A-47FD-891A-9189E4D6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1600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00EE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407A71-8748-4987-BEEC-09904395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TREND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C44075-85BC-4E0A-A983-A31E0DC5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select opportunity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F9442B-3CA2-4519-8F1E-2EA81046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95600"/>
            <a:ext cx="1600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D5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439A2D-B9C2-468F-B7F7-6E39C172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099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CONTEXT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8F4B6F-4F8F-438F-BA0C-08B97A90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95650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Brand DNA + goals + memories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5ADF31-92EA-49B7-8C62-CE7B3F54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95600"/>
            <a:ext cx="1600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5F7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2FAAF8-5234-4037-8D0E-DE6C5D1B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099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5F7FF"/>
                </a:solidFill>
                <a:latin typeface="Aptos Mono"/>
                <a:ea typeface="Aptos Mono"/>
                <a:cs typeface="Aptos Mono"/>
              </a:rPr>
              <a:t>PROMPT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BA644B-7DD0-4A58-91FA-C9803C7E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95650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format-aware assembly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D0B1ED-F02C-43C2-82AF-9976B9EC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95600"/>
            <a:ext cx="1600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35F2A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3FD811-BEE2-49F1-9C9E-A8E827B4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99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MODEL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A464B6-49A6-4B31-91E3-BB86581B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95650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Gemini / OpenRouter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2A2D95-8A34-48BC-83B0-974A52EB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95600"/>
            <a:ext cx="1600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00EE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DBFDCF-7800-4A80-82AA-EEBA24F1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099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STORE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9EBC58-D26A-473F-9039-000CBEE6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Room content draft + media artifact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9CA11D-BE06-44B6-B1EF-D665D68E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337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00CAF2-4A38-42F8-98DE-D2849B56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F7571D-8590-43DE-BFCE-91AB7F16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337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9802D9-15B6-4ACB-81A0-009FA844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C14579D-ECDE-4387-B095-25927C3C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337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247F87-BB5E-4E70-93BB-12A67825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A47C32-5162-4DB8-9F28-BF4C6C40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CB624BA-C620-46E0-BDAE-934928AD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BE0BBF-B7F3-4333-8D78-A248AF5C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Reel Script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7D6F58-BF6A-4D34-9AA7-AFFF64CF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Instagram Carousel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CCA892A-7B59-4426-AD97-FF632F3C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8150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X Thread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9877C98-AF24-4946-8A39-81269C71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8150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Image render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37882BD-E061-4D6D-B328-9511FC66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8150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Video storyboard/render path</a:t>
            </a:r>
          </a:p>
        </p:txBody>
      </p:sp>
    </p:spTree>
    <p:extLst>
      <p:ext uri="{BB962C8B-B14F-4D97-AF65-F5344CB8AC3E}">
        <p14:creationId xmlns:p14="http://schemas.microsoft.com/office/powerpoint/2010/main" val="15549194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16965F-6C12-4117-90E1-1AB7B325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CF9CE-C4B7-441C-ACD1-05B1532F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C4494-275B-4B70-ADFB-76F81BC5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901BA-E8B8-4A7A-96ED-BC98ACAE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28B05-82A8-4F43-92C6-B1CC8D85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8CEBF-F122-4CCA-AA69-C0C4A91A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C4078-0DBA-4CF3-A5CB-1798DD93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CDA92-813B-42C1-B48A-C9C82B28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6E5C1-0385-4255-8EDE-50BFB71C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9D478-E09B-44D5-AFA5-134D2A64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C6626-2AA8-4E50-BE8F-5FC34127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0B481-59E8-4D00-AD37-C2849596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E7EC3-6190-42A4-90DC-49083069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D9693-CA5E-4E34-9B1B-7CAA90D7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9CB63-4D67-42BE-A7FA-436DA227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306C2-FFA8-4E83-A2C9-EFBA2DEE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054E3-4A38-45C9-BEFD-F2BBA048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BDD1E-963D-4A4A-8AB5-5FB2FF41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EE18E-3E4D-46AA-804D-39655EF4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3BD89-AAB1-4F21-BAAC-FC1943E6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271B0-FC48-4EB2-90DE-AF7A0A91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83E2B-F6FC-46BB-AA17-478DCEF2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3238D4-16DF-4FBF-9CA5-4399A574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7B386B-A8CB-4803-821C-68B8136C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C227F2-EECB-4920-9C09-F9240379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5B7362-18A2-4850-8271-217686FD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E06129-5619-4573-BDEB-8A79891F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5915B9-8CE0-47BF-ABE7-531A298E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30DBB0-275F-4D50-B834-F6830FDF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98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rPr>
              <a:t>BRANDFORGE / CREATOR DIGITAL TWIN / 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8C746C-EE65-45FB-8218-77ACE772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CLOSED LOOP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45D5BC-EC45-4D47-B19D-0029BD61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rPr>
              <a:t>The system captures engagement intelligence, PR risk, and competitor gaps before the creator posts again.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C3435F-C102-4E6E-BC46-DAB4CBF7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5A0C8"/>
                </a:solidFill>
                <a:latin typeface="Aptos"/>
                <a:ea typeface="Aptos"/>
                <a:cs typeface="Aptos"/>
              </a:rPr>
              <a:t>This closes the loop between content, audience response, market movement, and next-best action.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39492C-A46F-4E76-9AF7-0E903AD1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953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B9E4AE-E368-4012-B132-5B269D03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464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[AUDIENCE + RISK]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B18994-347D-4DA6-A599-B44EABBD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35F2A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B63C0F-BE91-4F9C-A272-26E48AFF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432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LEAD DETECTION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8194DF-74F8-4718-8CFB-21AF0D3E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Lead / Question / Collaboration / Feedback / PR Risk / Ignore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ABBB42-F2D3-4D73-B5C8-43340B31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2890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4D5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DF1E24-748F-47AA-93C4-FEAFD4A1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432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4D5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4D5A"/>
                </a:solidFill>
                <a:latin typeface="Aptos Mono"/>
                <a:ea typeface="Aptos Mono"/>
                <a:cs typeface="Aptos Mono"/>
              </a:rPr>
              <a:t>PR AUDIT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DE64DF-1375-4D88-AFB3-0983D835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2895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image-aware Gemini audit + caption rewrite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5579F4-83DD-438B-81BB-C3512341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100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00EE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6C0E01-02B7-4D7A-B673-1B78D84F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2430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TWIN CHAT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AA2C41-5FE9-4ADA-918F-ECC5630D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100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answers with cited memories, trends, opportunities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0FBC85-2ED5-4508-AB00-8BAB6C74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191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D92113-7043-477D-AC6D-FD6E5826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388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[COMPETITOR GAP ENGINE]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263D6F-659C-478B-B140-26B07ABF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479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00EED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5C9C32-9D50-4DE3-8C56-7C42CABB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FETCH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908424-55CB-4339-B411-D615BDAB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YouTube + Firecrawl scrape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074CCB-133C-4071-BBA0-B40B0D4F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D54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8766E2E-EE36-4744-A0AF-6470D912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622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ANALYZE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C8B253-58D5-402A-87F3-29F37ED3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480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patterns, gaps, hooks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79A1B8-59F6-42BC-8629-6B3DD826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100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35F2A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4CBE5D-40EF-4B87-8A41-04C656A7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2430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INFLUENCE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F17BBA-84D2-44E5-A41B-EBEFFF13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1005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feeds Trend Opportunities, Content Agent, Twin Chat</a:t>
            </a:r>
          </a:p>
        </p:txBody>
      </p:sp>
    </p:spTree>
    <p:extLst>
      <p:ext uri="{BB962C8B-B14F-4D97-AF65-F5344CB8AC3E}">
        <p14:creationId xmlns:p14="http://schemas.microsoft.com/office/powerpoint/2010/main" val="8972097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CCD14F-607C-48F2-A1AE-A28436B2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93DE8-6BFC-447D-BD3D-BC4A566C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10B91-F2E0-4F3E-9CB9-B4C4CE65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491CD-4030-406A-8B21-99948B6A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E9619-146F-413C-A8E3-40559710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B745F-A4F8-403F-812F-E52045C6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945B9-5CFA-4052-9649-19EA0E74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E2D0A-0849-468B-B541-F36993C3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24A81-FE83-4250-B47D-34B0A90A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39DC5-E1E6-49D7-B771-8FB3F606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BED1E-F90F-494D-9C6D-3ED07032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0266E-102D-4C7B-9D59-422C21AD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DF2F1-3CF4-40CB-8B2C-D542F344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41D4C-A86F-430D-9124-8DD109E4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CC5F3-9AEB-405D-A6A5-C2259676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976FF-7171-4FF8-BA25-B777FE44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08BBE1-1AC4-403A-AB25-2B2BE8C7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DACDC1-86B9-403A-BE0E-1ED6D746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25EFC-230B-49C9-AC8F-E3A7F1F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1CE34B-2027-46D1-9E81-A84A1C2A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F631D2-7635-40E3-BB8C-02D2D04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B2960-976B-4283-BCAC-625D4E4A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6D4FE5-1163-426F-A4F3-5D22B370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C1106B-697F-40A9-93B9-BC31F4DD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12DB99-7DB2-46C1-A26E-2657FB0E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12D570-692A-48E2-9AAE-022696BE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1F3AB4-17BE-4C9D-8091-4619BD77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95F107-AF68-4ECF-A545-270D2DF2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6A84BE-1CAB-4286-8897-EFC6629B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98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rPr>
              <a:t>BRANDFORGE / CREATOR DIGITAL TWIN / 09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3B1A58-07C5-402F-B762-BA98C8EF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ARCHITECTURE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74B750-0146-4813-BD6B-5BED1FB4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rPr>
              <a:t>The Android app is production-shaped: Clean Architecture, Hilt, Room, DataStore, Retrofit, and offline-first persistence.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A0034D-EFBE-42AA-9415-81CAFF7E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5A0C8"/>
                </a:solidFill>
                <a:latin typeface="Aptos"/>
                <a:ea typeface="Aptos"/>
                <a:cs typeface="Aptos"/>
              </a:rPr>
              <a:t>The UI is retro, but the implementation is a real Kotlin intelligence layer.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1E93B1-60E3-458D-8590-5F51F917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00EE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06611F-39D3-4D7F-93E8-4761931C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969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[PRESENTATION]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64A11D-3248-4058-8A2A-996DE779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Jetpack Compose screens, MVI state, ViewModels, voice routing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215BC1-9819-4145-B128-D5F0B2DE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FFD54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4E0C9F-35C8-4887-BE1E-FE6BDD9D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969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[DOMAIN]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0447EC-6AF7-46C3-8A1F-EC18DD7F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agents, use cases, prompt assembly, scoring engines, model routing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E8B2E7-A42A-4345-BEF0-CF9A0126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35F2A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C589DB-12CF-4818-8E3B-4CCDA419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969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[DATA]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401998-99DD-4572-9E39-5A186EBA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repositories, local/remote data sources, Retrofit clients, mappers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3FF074-DE02-41E0-A84F-E9FA591C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F5F7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DDDBEB-594B-4F0D-9DED-AE660DF1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969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[STORAGE]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E510A0-327E-49D3-993E-B65A39D7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91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Room, DataStore, Qdrant vectors, generated media files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DF534D-85A1-4D2E-8505-11CCA58D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FF4D5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442A31-0286-4B93-B8D1-ECAA8B63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969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[NETWORK]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B0F131-E147-4973-B618-F350282C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Gemini, OpenRouter, Firecrawl, YouTube Data API</a:t>
            </a:r>
          </a:p>
        </p:txBody>
      </p:sp>
    </p:spTree>
    <p:extLst>
      <p:ext uri="{BB962C8B-B14F-4D97-AF65-F5344CB8AC3E}">
        <p14:creationId xmlns:p14="http://schemas.microsoft.com/office/powerpoint/2010/main" val="4313965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EAE68D-2BF1-41A3-AD3D-96786EC0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79385-4CB0-4A19-A316-A2FD97C2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AB4AA-3F21-4754-9AC8-EBCDECB4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095A2-E747-4FF3-8E8A-8711CEC6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50253-5810-49C5-8E18-FDD102CB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83E0A-8208-438F-A934-BCA09E5F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7AD94-E996-4487-8862-5ADFE8AE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F1C07-3144-4012-88FF-D50A0ADE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7A2B1-DFCB-4688-A54A-68F84B04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5D634-D7B3-48F4-A734-8746F048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94931-5184-410F-B643-3A58F867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18D0B-C14C-4F80-BE94-9F3B0802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926F2B-2C65-43C4-9F04-96F1763C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F9417-51EA-42AD-8D4E-A08DEF74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FF8BC-0677-43FA-8720-33672176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81D6E0-D27C-411A-AD79-6585C2A6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E5419-4E43-4F28-A6C7-7E781890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2E00A-8FFE-4229-A509-9F12D047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CF83F7-8B9F-494C-82CF-83E2D4A6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3909E-6C8C-455A-8608-72ABCE56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9E07D1-1357-4450-B146-C6DEBD2E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5EA2DC-B0FB-46EF-8413-5FA80611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828EF-981C-4600-8FBF-E9CD8BEC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FE5AB2-EE4F-4E82-9849-98E08B83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9DE9C3-6793-4504-8323-3A83BB9D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128D4F-0118-42C5-A518-99AA89F5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23B241-A472-4172-90DE-693C65D5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FEB65C-7795-42CF-A73B-0BF3BC5A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258A9D-6E66-40BF-80D7-CD6FF4CC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98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rPr>
              <a:t>BRANDFORGE / CREATOR DIGITAL TWIN / 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632494-2CE0-45FF-A6B3-349CFACA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DEMO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435A1F-7C38-49E7-A74F-6D71FE62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rPr>
              <a:t>The three-minute walkthrough proves the autonomous loop on a physical Android phone.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4CC381-2223-4459-B84F-41AFBA3D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5A0C8"/>
                </a:solidFill>
                <a:latin typeface="Aptos"/>
                <a:ea typeface="Aptos"/>
                <a:cs typeface="Aptos"/>
              </a:rPr>
              <a:t>Judges see a real APK, not a mock deck.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4E8655-474F-4DDD-9621-B7C9FAA3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0287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C80B14-3E7B-4599-93EE-2DC4B940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998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[3 MINUTE DEMO SCRIPT]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E97FCA-B243-4FAA-BCD3-3EC92F50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D5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CC9C1E-0D07-439C-943E-589B67AB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622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0:00 Brand DNA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CD8126-A6B7-42E9-B784-92A9BAE8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save creator identity or scrape a profile URL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700A2F-3830-4915-881D-70C103BA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479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35F2A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69C9EF-DE6C-4861-B825-F784194F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0:35 Memory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1A3D1F-D7FB-4AE1-BB01-02A63E6A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retrieve creator-specific context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F80E9F-B0FA-458A-B507-91EB5A49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479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00EE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E22878-0035-49E3-A2EA-E866E729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622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1:00 Trends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BA3FB4-92D1-450C-8596-3820E0F6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4800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fetch sources, view URL, save opportunity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B1DAA0-9C8E-4A1E-B7CC-6C87837C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5F7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15F442-3FD3-41CC-8499-D6045296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862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5F7FF"/>
                </a:solidFill>
                <a:latin typeface="Aptos Mono"/>
                <a:ea typeface="Aptos Mono"/>
                <a:cs typeface="Aptos Mono"/>
              </a:rPr>
              <a:t>1:35 Content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9B4595-D1C3-4C94-8355-2693FD4A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7195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generate draft and render image/media artifact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7950E7-389E-4B76-BAB7-0A49CE41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719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4D5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7221A5-4C6D-462A-A037-70C9F8F6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862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4D5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4D5A"/>
                </a:solidFill>
                <a:latin typeface="Aptos Mono"/>
                <a:ea typeface="Aptos Mono"/>
                <a:cs typeface="Aptos Mono"/>
              </a:rPr>
              <a:t>2:15 Audit / Leads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68D8C4-F2D9-4C15-95C4-72F16EA8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7195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analyze image+caption or classify engagement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0901D7-DB5E-46E6-A488-60FBDCE8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719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D54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1B205B-DE8F-474A-AA91-FF658723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862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2:45 Twin / War Room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021295-F5B7-4AE3-A1DD-81D3EBC8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7195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ask strategy question or run agent battle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DD9AF3-2322-4375-A183-E17DF7D3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52230A-F214-4871-86A9-2D51DF6D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71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51792D-4F0E-49DC-9FFE-9F9D1049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099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F038EB-DB33-40BB-91EF-7825B7B2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71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6C2650-11B3-4535-BED7-780C313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338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62CE436-661E-4593-8CD2-5BD87731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9F9E9C-C2E4-4DCC-B974-2B9F0AFB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338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5ABBF1-4E3C-4E88-9605-579562FD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937637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79A17E-2D2C-4632-B515-0742D544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1D24E-574E-4838-89BC-AE73B204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DDD6A-E0C2-4FE8-B8C2-366D9B05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DBA2A-C216-461C-B3F4-1A55BFE5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6D632-4814-4DFC-943F-BCD1B435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E855B-30A9-424B-8C96-76625BC3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F179F-3A24-4B72-8984-687ABF03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33757-4657-44D0-8437-E323E236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D91CB-A3AD-47CB-AD70-3DDE2BA2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71539-36D9-488A-A137-0E97848E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6C1CB-F41C-47A7-92C1-7371E343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54567-08AF-4E58-8EC4-BBFD7ED6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A7522-8A51-42D2-A52E-150F89F9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9B0C9-6EF7-42F2-9822-13D40AD2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B1981-3471-4455-A5AA-CA080B2A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A4F318-E322-4352-A0A9-6979997A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09D75-7C25-4EC3-AA23-D1A20AF1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62D45-E76D-4397-80D9-74083214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90BC31-DFCB-401F-9C29-CEE8BB18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0224CF-25A9-4235-92AF-971F3B00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3401D1-7D18-4FBF-8216-0AA078EE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F73E84-121E-4A91-B9DE-179F5298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D9ACC2-E957-434A-956C-64DD8666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DA9777-8C12-469F-8C9A-1CCB9F0D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203040-C2ED-4D56-A82F-E56CDD89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2A90CA-4A22-4608-B847-A4715DD4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987B4E-DBF0-487C-B599-D5C9389F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8D0587-7AEF-4936-8FFB-6C2EFA81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885469-38FC-46BF-87CF-D4C51D4B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98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rPr>
              <a:t>BRANDFORGE / CREATOR DIGITAL TWIN / 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2C6314-4D8B-4DF5-BB6B-52CD2DA2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BUSINESS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7EB408-AD4D-445B-B6B6-7B4A6375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rPr>
              <a:t>BrandForge starts with Indian mobile-first creators and expands into a creator operating system.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B5EA8D-7D13-4204-BF4E-975BB6B0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5A0C8"/>
                </a:solidFill>
                <a:latin typeface="Aptos"/>
                <a:ea typeface="Aptos"/>
                <a:cs typeface="Aptos"/>
              </a:rPr>
              <a:t>The wedge is not content generation; it is persistent creator intelligence.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F50C4A-A250-4546-8FCD-C1F44978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4381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FBB887-71C5-4057-B8F8-3FB739D2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07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[WHO BUYS FIRST]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E9648A-7634-49A2-9600-1F0A5F45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D5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BE095A-6765-4494-93DB-D76EA457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62250"/>
            <a:ext cx="3105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CREATORS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EDBCBA-694E-43E9-871D-D3758C11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3105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YouTubers, Instagram creators, coaches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74F359-555A-45F0-96D5-FB5F6D3E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35F2A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CA0E5A-4DBF-4891-B0BE-BAFF4563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86150"/>
            <a:ext cx="3105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SOLOPRENEURS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686E4B-5CD8-48D8-A207-D4F8D2DF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3105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founders, consultants, small businesses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88D6FD-4695-4D57-945D-584C1BDC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00EE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66FF09-A1E5-481A-A563-4F935994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3105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AGENCIES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03B6E5-5DC8-4FF1-A6A8-04094AA5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95800"/>
            <a:ext cx="3105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manage many creator twins later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47ED5D-AE0B-4921-B4EF-61C8465D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A69EBA-0FE6-4A3A-8A2F-A4D5B071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417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[MONETIZATION PATH]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40506A-5710-4612-A165-3D88580C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051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rPr>
              <a:t>Creator Pro subscription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6ACA55-6F5E-483A-92AD-3E0D10DF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F2F9A5-3DF7-46D8-ACDA-C6488EC3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212979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55C0AF-A0BA-4F99-8ECF-C995E443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765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86%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F49CD8-2F15-4711-BD2B-2E313E9A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rPr>
              <a:t>AI credits for media/agents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A55FC1-78CF-49DE-9490-601F3265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BB7FBF5-0FB4-4F06-9B26-0E06B00D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17830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EACB56-2BE7-4862-B57A-5EA3508A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433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72%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EC75B9-13D4-4C5C-AEEC-ECF6EA01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rPr>
              <a:t>Agency multi-creator workspace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30BD33-4690-4FC4-B1DA-13CF0257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D00054-B340-41A0-B091-2D4B057D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153543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082800-1C79-470E-B174-78FB3495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100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62%</a:t>
            </a:r>
          </a:p>
        </p:txBody>
      </p:sp>
    </p:spTree>
    <p:extLst>
      <p:ext uri="{BB962C8B-B14F-4D97-AF65-F5344CB8AC3E}">
        <p14:creationId xmlns:p14="http://schemas.microsoft.com/office/powerpoint/2010/main" val="2468251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75A6F5-AFBE-4519-8EEA-1F618735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5D6D0-91CE-49F2-9AD9-BCFD7AF7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F0E26-62A8-427C-ABC8-9D3C7197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26D5D-7BFA-4134-AA42-53E828D1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5582E-2D0A-4DE7-9ACC-278360DF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A345C-05E2-4D4E-8A42-3770860A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63A94-DB03-4F4B-B817-01F28136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3A2D7-D85C-4597-A8D0-79546E02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EF682-86C3-44BB-899D-102A8D2D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79863-A429-4F24-B8E8-AF097C8D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CDA24-ACDE-413C-93C3-741AC0A3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E54C1-C6CD-4272-84DC-7661347B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33B4A-C751-4F64-B7B7-155D7ADE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2B0BF-EC0D-41BF-AC6D-33800EC1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86B43-ABC8-4EA5-8B5E-1F71932F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66CDA-D041-4124-BC72-4E06BD94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939C6-4456-4392-970A-375D2A02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7B285A-B87E-40E7-BA7A-CE11BBBB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8EB713-B831-4264-A989-8F811A4A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54BEB-A778-44EA-B030-A1EEE072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EADE4A-7310-4C59-8678-90DE74F5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D48702-54A8-421A-BCD5-882348EE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3AE346-3A73-461E-ACD5-90BB3054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C24248-3364-4890-80AD-0AC0B7C8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D9725F-D956-4FBE-B375-21DA89D1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E42720-3065-4DAC-BD67-B2331BF4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181CD3-BABB-4D2A-A7D9-2695FB30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EF333A-D43B-4135-8F9A-09DEA35B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8B0343-1FCC-457A-9761-F4A34A2C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98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0C8"/>
                </a:solidFill>
                <a:latin typeface="Aptos Mono"/>
                <a:ea typeface="Aptos Mono"/>
                <a:cs typeface="Aptos Mono"/>
              </a:rPr>
              <a:t>BRANDFORGE / CREATOR DIGITAL TWIN / 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0D579A-9A0D-4949-B48B-36FDB955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WHY IT WINS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BAB027-0978-4F47-94E9-267CC214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F"/>
                </a:solidFill>
                <a:latin typeface="Aptos Display"/>
                <a:ea typeface="Aptos Display"/>
                <a:cs typeface="Aptos Display"/>
              </a:rPr>
              <a:t>BrandForge maps strongly to innovation, technical complexity, real-world impact, and scalability.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0A0E90-D368-4379-AF0B-8D172C2E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5A0C8"/>
                </a:solidFill>
                <a:latin typeface="Aptos"/>
                <a:ea typeface="Aptos"/>
                <a:cs typeface="Aptos"/>
              </a:rPr>
              <a:t>The project demonstrates real AI orchestration on Android with persistent memory and live data integrations.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5FC867-3943-49B8-81D0-F2971CD4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953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A764E8-B616-4517-BF31-5545E5F7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64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[JUDGING CRITERIA]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A74F31-C2EA-4B10-A150-795B77C9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rPr>
              <a:t>Innovation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B551BB-E253-48CB-AA2E-48B1B2F1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2857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DD1840-351E-40B8-9FD6-0D6F2469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2628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7D9A65-AA24-460F-8BBC-BF09D33F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92%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667F71-5E43-4185-A803-1E63D05B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rPr>
              <a:t>Technical complexity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559A4B-0D1E-4450-9708-02FF0E0A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2857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A160B9-06BB-45BF-BAEF-E17B991A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2514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F838BF-AAA6-4B0E-832F-89B7E52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0EED0"/>
                </a:solidFill>
                <a:latin typeface="Aptos Mono"/>
                <a:ea typeface="Aptos Mono"/>
                <a:cs typeface="Aptos Mono"/>
              </a:rPr>
              <a:t>88%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015FEE-C370-4257-88A4-61301AC8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rPr>
              <a:t>Real-world impact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062097-E236-4F81-9CF9-D86FE662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38600"/>
            <a:ext cx="2857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AC7B77-9913-45ED-B6BB-F0F88309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38600"/>
            <a:ext cx="2400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811F6B-9221-438F-A1BC-602A64B7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624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84%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B8D212-E499-4016-9A29-5813AC8D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624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5F7FF"/>
                </a:solidFill>
                <a:latin typeface="Aptos Mono"/>
                <a:ea typeface="Aptos Mono"/>
                <a:cs typeface="Aptos Mono"/>
              </a:rPr>
              <a:t>Scalability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BA4447-6B24-4137-B8BA-2159CBB1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2857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2CF0A8-F367-4C0D-B039-D668272B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2228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173FCB-FB99-4757-8EA3-A8B760C3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33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5F7FF"/>
                </a:solidFill>
                <a:latin typeface="Aptos Mono"/>
                <a:ea typeface="Aptos Mono"/>
                <a:cs typeface="Aptos Mono"/>
              </a:rPr>
              <a:t>78%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9BC559-C9DE-4B6C-9A1F-33D69E05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4000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84A0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2A9FB8-43D5-49B5-8178-A43ECB2C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90750"/>
            <a:ext cx="3695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[FINAL VERDICT]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A3CB40-9C92-45DC-A56D-26E66555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813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35F2A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55EC81-8D8F-4A7F-B58E-68F396C0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9560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5F2A1"/>
                </a:solidFill>
                <a:latin typeface="Aptos Mono"/>
                <a:ea typeface="Aptos Mono"/>
                <a:cs typeface="Aptos Mono"/>
              </a:rPr>
              <a:t>STRONG CONTENDER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5ED968-9385-4B15-812D-D3169060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8135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A real autonomous creator twin, not another prompt wrapper.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17932F1-D84B-49B3-A3B7-2B12FA95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FD54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D4027A-F0DF-4771-AAC1-D51CC0D5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5765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D54D"/>
                </a:solidFill>
                <a:latin typeface="Aptos Mono"/>
                <a:ea typeface="Aptos Mono"/>
                <a:cs typeface="Aptos Mono"/>
              </a:rPr>
              <a:t>NEXT ROADMAP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8C1332-A0F7-42F5-BB64-3E25302E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4340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F"/>
                </a:solidFill>
                <a:latin typeface="Aptos"/>
                <a:ea typeface="Aptos"/>
                <a:cs typeface="Aptos"/>
              </a:rPr>
              <a:t>overnight jobs, publishing, deeper video, analytics feedback loop</a:t>
            </a:r>
          </a:p>
        </p:txBody>
      </p:sp>
    </p:spTree>
    <p:extLst>
      <p:ext uri="{BB962C8B-B14F-4D97-AF65-F5344CB8AC3E}">
        <p14:creationId xmlns:p14="http://schemas.microsoft.com/office/powerpoint/2010/main" val="489175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2026-06-06T11:17:20.3960000Z</dcterms:created>
  <dcterms:modified xsi:type="dcterms:W3CDTF">2026-06-06T11:17:20.3960000Z</dcterms:modified>
</coreProperties>
</file>